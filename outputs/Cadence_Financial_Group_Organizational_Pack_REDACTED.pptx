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customXml" Target="../customXml/item1.xml"/><Relationship Id="rId17" Type="http://schemas.openxmlformats.org/officeDocument/2006/relationships/customXml" Target="../customXml/item2.xml"/><Relationship Id="rId18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1C776-7677-4ECE-A2BC-F202FF94A5FE}" type="datetimeFigureOut"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E83E2-82DD-4E6E-AE6A-1D1F2EF00C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223760" y="0"/>
            <a:ext cx="4965192" cy="6858000"/>
          </a:xfrm>
          <a:prstGeom prst="rect">
            <a:avLst/>
          </a:prstGeom>
          <a:solidFill>
            <a:srgbClr val="0B1A33"/>
          </a:solidFill>
          <a:ln/>
        </p:spPr>
        <p:txBody>
          <a:bodyPr/>
          <a:p/>
        </p:txBody>
      </p:sp>
      <p:pic>
        <p:nvPicPr>
          <p:cNvPr id="4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68680"/>
            <a:ext cx="3017520" cy="9811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240280"/>
            <a:ext cx="5760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Organizational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Pack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170432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structure, reporting lines and accountability matrices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143000" y="4572000"/>
            <a:ext cx="1280160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43000" y="48006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900" dirty="0"/>
          </a:p>
          <a:p>
            <a:pPr marL="0" indent="0">
              <a:buNone/>
            </a:pPr>
            <a:r>
              <a:rPr lang="en-US" sz="11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·  Version 1.0  ·  Internal —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01000" y="1051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A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098280" y="116128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officers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01000" y="1965960"/>
            <a:ext cx="3383280" cy="10973"/>
          </a:xfrm>
          <a:prstGeom prst="rect">
            <a:avLst/>
          </a:prstGeom>
          <a:solidFill>
            <a:srgbClr val="2A3D5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001000" y="22585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A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9098280" y="23682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role holders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01000" y="3172968"/>
            <a:ext cx="3383280" cy="10973"/>
          </a:xfrm>
          <a:prstGeom prst="rect">
            <a:avLst/>
          </a:prstGeom>
          <a:solidFill>
            <a:srgbClr val="2A3D5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001000" y="346557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A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9098280" y="357530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matrices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01000" y="4379976"/>
            <a:ext cx="3383280" cy="10973"/>
          </a:xfrm>
          <a:prstGeom prst="rect">
            <a:avLst/>
          </a:prstGeom>
          <a:solidFill>
            <a:srgbClr val="2A3D5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001000" y="4672584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A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9098280" y="478231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Divisional structures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3258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is organised into five reporting divisions under the Chief Executive Officer. Governance of technology, data and risk activity is distributed across the Technology &amp; Data and Risk, Compliance &amp; Security divisions, with joint accountability recorded in the matrices that follow.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40280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02920" y="2240280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58952" y="24780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of the CEO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communications and board reporting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8952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[NAME REDACTED]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07408" y="2240280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407408" y="2240280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663440" y="24780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63440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servicing, payments and shared services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63440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[NAME REDACTED]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311896" y="2240280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311896" y="2240280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567928" y="24780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567928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Treasury, financial control and planning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567928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[NAME REDACTED]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" y="4014216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02920" y="4014216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58952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&amp; Data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58952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infrastructure, data and security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58952" y="50840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[NAME REDACTED]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407408" y="4014216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4407408" y="4014216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66344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Risk, Compliance &amp; Security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663440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risk, compliance, privacy and assurance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663440" y="50840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[NAME REDACTED]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311896" y="4014216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8311896" y="4014216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8567928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&amp; Culture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567928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Talent, workforce policy and employee relations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567928" y="50840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[NAME REDACTED]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Leadership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— TIER 1 AND TIER 2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45736" y="1325880"/>
            <a:ext cx="2697480" cy="1188720"/>
          </a:xfrm>
          <a:prstGeom prst="rect">
            <a:avLst/>
          </a:prstGeom>
          <a:solidFill>
            <a:srgbClr val="12284C"/>
          </a:solidFill>
          <a:ln w="6350">
            <a:solidFill>
              <a:srgbClr val="12284C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745736" y="1325880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928616" y="14081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28616" y="164592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28616" y="187452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94476" y="2514600"/>
            <a:ext cx="0" cy="45720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485900" y="2971800"/>
            <a:ext cx="9217152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485900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34340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34340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7220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17220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OPERATING OFFICER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17220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790188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738628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2738628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921508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921508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921508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094476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5042916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042916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225796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25796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INFORMATION OFFICER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225796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8398764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7347204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7347204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530084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530084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RISK OFFICER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530084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10703052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9651492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9651492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9834372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9834372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PEOPLE OFFICER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9834372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502920" y="49834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502920" y="4983480"/>
            <a:ext cx="68580" cy="109728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685800" y="506577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685800" y="530352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COUNSEL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685800" y="5532120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520440" y="49834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>
            <a:off x="3520440" y="4983480"/>
            <a:ext cx="68580" cy="109728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3703320" y="506577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3703320" y="530352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OFFICER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703320" y="5532120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6629400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reporting line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Counsel and the Data Protection Officer report directly to the Chief Executive Officer and hold a standing reporting line to the Board Risk Committee.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56" name="Text 53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&amp; Data Division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— REPORTING TO THE CHIEF INFORMATION OFFICER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45736" y="1371600"/>
            <a:ext cx="2697480" cy="1188720"/>
          </a:xfrm>
          <a:prstGeom prst="rect">
            <a:avLst/>
          </a:prstGeom>
          <a:solidFill>
            <a:srgbClr val="12284C"/>
          </a:solidFill>
          <a:ln w="6350">
            <a:solidFill>
              <a:srgbClr val="12284C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745736" y="1371600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928616" y="14538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28616" y="169164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INFORMATION OFFICER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28616" y="19202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94476" y="2560320"/>
            <a:ext cx="0" cy="50292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842516" y="3063240"/>
            <a:ext cx="8503920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842516" y="3063240"/>
            <a:ext cx="0" cy="338328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85216" y="3401568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85216" y="3401568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68096" y="348386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8096" y="37216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INFORMATION SECURITY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8096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77156" y="3063240"/>
            <a:ext cx="0" cy="338328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3419856" y="3401568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3419856" y="3401568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602736" y="348386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602736" y="37216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ENGINEERING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602736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511796" y="3063240"/>
            <a:ext cx="0" cy="338328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254496" y="3401568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254496" y="3401568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437376" y="348386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437376" y="37216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DATA &amp; ANALYTICS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437376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346436" y="3063240"/>
            <a:ext cx="0" cy="338328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089136" y="3401568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9089136" y="3401568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9272016" y="348386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9272016" y="37216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INFRASTRUCTURE &amp; CLOUD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272016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85216" y="4937760"/>
            <a:ext cx="2514600" cy="960120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585216" y="4937760"/>
            <a:ext cx="2514600" cy="457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749808" y="507492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49808" y="53035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operations, identity, vulnerability management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3419856" y="4937760"/>
            <a:ext cx="2514600" cy="960120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3419856" y="4937760"/>
            <a:ext cx="2514600" cy="457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3584448" y="507492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3584448" y="53035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platform, digital channels, release management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6254496" y="4937760"/>
            <a:ext cx="2514600" cy="960120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6254496" y="4937760"/>
            <a:ext cx="2514600" cy="457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6419088" y="507492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419088" y="53035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platform, model development, reporting services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9089136" y="4937760"/>
            <a:ext cx="2514600" cy="960120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9089136" y="4937760"/>
            <a:ext cx="2514600" cy="457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9253728" y="507492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Cloud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253728" y="53035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networks, resilience and cloud governance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Risk, Compliance &amp; Security Division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— REPORTING TO THE CHIEF RISK OFFICER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45736" y="1371600"/>
            <a:ext cx="2697480" cy="1188720"/>
          </a:xfrm>
          <a:prstGeom prst="rect">
            <a:avLst/>
          </a:prstGeom>
          <a:solidFill>
            <a:srgbClr val="12284C"/>
          </a:solidFill>
          <a:ln w="6350">
            <a:solidFill>
              <a:srgbClr val="12284C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745736" y="1371600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928616" y="14538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28616" y="169164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RISK OFFICER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28616" y="19202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94476" y="2560320"/>
            <a:ext cx="0" cy="5486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842516" y="3108960"/>
            <a:ext cx="8503920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842516" y="3108960"/>
            <a:ext cx="0" cy="34747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85216" y="3456432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85216" y="3456432"/>
            <a:ext cx="68580" cy="1207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68096" y="3538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8096" y="377647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COMPLIANCE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8096" y="40050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77156" y="3108960"/>
            <a:ext cx="0" cy="34747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3419856" y="3456432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3419856" y="3456432"/>
            <a:ext cx="68580" cy="1207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602736" y="3538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602736" y="377647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OPERATIONAL RISK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602736" y="40050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511796" y="3108960"/>
            <a:ext cx="0" cy="34747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254496" y="3456432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254496" y="3456432"/>
            <a:ext cx="68580" cy="1207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437376" y="3538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437376" y="377647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THIRD-PARTY RISK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437376" y="40050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346436" y="3108960"/>
            <a:ext cx="0" cy="34747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089136" y="3456432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9089136" y="3456432"/>
            <a:ext cx="68580" cy="1207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9272016" y="3538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REDACTED]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9272016" y="377647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INTERNAL ASSURANCE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272016" y="40050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REDACTED]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[PHONE REDACTED]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920" y="4892040"/>
            <a:ext cx="1118311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502920" y="4892040"/>
            <a:ext cx="68580" cy="100584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777240" y="4983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interlock   </a:t>
            </a:r>
            <a:r>
              <a:rPr lang="en-US" sz="11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Chief Risk Officer chairs the Enterprise Risk Committee. The Data Protection Officer, the VP Information Security and the Director of Third-Party Risk hold standing membership. Escalations from the divisions feed the committee on a monthly cycle, with material items routed to the Board Risk Committee.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RACI — AI &amp; Data Governance Programme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BY ACTIVITY AND ROLE HOLDER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83112" cy="91440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InfoSec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Y. El-Katib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use-case intake and approval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inventory and registration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classification and PII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impact assessment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review of AI platforms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monitoring and drift 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reporting on AI 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funding and prioritisation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138928"/>
            <a:ext cx="292608" cy="29260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0292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8696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377440" y="5138928"/>
            <a:ext cx="292608" cy="2926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237744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6148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51960" y="5138928"/>
            <a:ext cx="292608" cy="292608"/>
          </a:xfrm>
          <a:prstGeom prst="rect">
            <a:avLst/>
          </a:prstGeom>
          <a:solidFill>
            <a:srgbClr val="8C97A8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25196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3600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5138928"/>
            <a:ext cx="292608" cy="292608"/>
          </a:xfrm>
          <a:prstGeom prst="rect">
            <a:avLst/>
          </a:prstGeom>
          <a:solidFill>
            <a:srgbClr val="DDE1E7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612648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51052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955280" y="5084064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cells indicate no formal involvement</a:t>
            </a:r>
            <a:endParaRPr lang="en-US" sz="9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activity.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RACI — Third-Party Risk &amp; Incident Response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BY ACTIVITY AND ROLE HOLDER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83112" cy="91440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TPRM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InfoSec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Op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Counsel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Assurance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onboarding due diligence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report review and gap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Contractual security schedules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vendor monitoring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detection and triage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escalation and notification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Post-incident review and remediation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control 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138928"/>
            <a:ext cx="292608" cy="29260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0292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8696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377440" y="5138928"/>
            <a:ext cx="292608" cy="2926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237744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6148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51960" y="5138928"/>
            <a:ext cx="292608" cy="292608"/>
          </a:xfrm>
          <a:prstGeom prst="rect">
            <a:avLst/>
          </a:prstGeom>
          <a:solidFill>
            <a:srgbClr val="8C97A8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25196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3600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5138928"/>
            <a:ext cx="292608" cy="292608"/>
          </a:xfrm>
          <a:prstGeom prst="rect">
            <a:avLst/>
          </a:prstGeom>
          <a:solidFill>
            <a:srgbClr val="DDE1E7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612648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51052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955280" y="5084064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holders are listed by name; contact</a:t>
            </a:r>
            <a:endParaRPr lang="en-US" sz="9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appear in the directory.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Holder Directory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CONTACTS BY DIVISION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Executive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the CEO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Counsel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the CEO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Protection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the CEO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Operating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Financial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People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&amp; Culture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Information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Information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Engineering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Data &amp;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Infrastructure &amp; 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Risk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Operational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Director, Third-Party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Director, Internal Assurance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[PHONE REDACTED]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pic>
        <p:nvPicPr>
          <p:cNvPr id="3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85800"/>
            <a:ext cx="2377440" cy="7726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of Personal Data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1143000" y="2761488"/>
            <a:ext cx="54864" cy="65836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389888" y="2715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840480" y="2715768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pack carries an Internal — Confidential marking and holds directory-level personal data comprising names, corporate email addresses and mobile numbers.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143000" y="3703320"/>
            <a:ext cx="54864" cy="65836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89888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840480" y="365760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is limited to named recipients with a defined business need. Onward forwarding, printing and upload to third-party or generative AI tools are to be avoided.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143000" y="4645152"/>
            <a:ext cx="54864" cy="65836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389888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notice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840480" y="4599432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holder details shown are synthetic and have been generated for illustration. Live records are to be sourced from the HR system of record before operational use.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143000" y="5586984"/>
            <a:ext cx="54864" cy="65836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89888" y="5541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840480" y="5541264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versions are to be withdrawn once a revised pack is issued; retention beyond the current reporting cycle is not anticipated.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428BFF0AD25F428DB172A579BD886C" ma:contentTypeVersion="25" ma:contentTypeDescription="Create a new document." ma:contentTypeScope="" ma:versionID="b6bea83dc01e70b2ac1bc90157e42b2f">
  <xsd:schema xmlns:xsd="http://www.w3.org/2001/XMLSchema" xmlns:xs="http://www.w3.org/2001/XMLSchema" xmlns:p="http://schemas.microsoft.com/office/2006/metadata/properties" xmlns:ns2="50b3145b-1ae8-4618-a85d-589520822f12" xmlns:ns3="83eabc67-0888-44e7-89b6-22274f6ed6bc" targetNamespace="http://schemas.microsoft.com/office/2006/metadata/properties" ma:root="true" ma:fieldsID="8e64121b30f3a77209b22abe10e844e6" ns2:_="" ns3:_="">
    <xsd:import namespace="50b3145b-1ae8-4618-a85d-589520822f12"/>
    <xsd:import namespace="83eabc67-0888-44e7-89b6-22274f6ed6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3145b-1ae8-4618-a85d-589520822f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displayName="Image Tags_0" ma:hidden="true" ma:internalName="lcf76f155ced4ddcb4097134ff3c332f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eabc67-0888-44e7-89b6-22274f6ed6b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b3145b-1ae8-4618-a85d-589520822f12" xsi:nil="true"/>
  </documentManagement>
</p:properties>
</file>

<file path=customXml/itemProps1.xml><?xml version="1.0" encoding="utf-8"?>
<ds:datastoreItem xmlns:ds="http://schemas.openxmlformats.org/officeDocument/2006/customXml" ds:itemID="{C2571EE1-FB05-491E-81D4-F3161752939C}"/>
</file>

<file path=customXml/itemProps2.xml><?xml version="1.0" encoding="utf-8"?>
<ds:datastoreItem xmlns:ds="http://schemas.openxmlformats.org/officeDocument/2006/customXml" ds:itemID="{50C84BA5-E3BA-4013-A78E-033E240ED03C}"/>
</file>

<file path=customXml/itemProps3.xml><?xml version="1.0" encoding="utf-8"?>
<ds:datastoreItem xmlns:ds="http://schemas.openxmlformats.org/officeDocument/2006/customXml" ds:itemID="{EA6C03CB-1986-491C-8C08-E92E90D8668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Cadence Financial Group — Organizational Reference Pack</dc:title>
  <dc:subject>PptxGenJS Presentation</dc:subject>
  <dc:creator/>
  <cp:lastModifiedBy/>
  <cp:revision>2</cp:revision>
  <dcterms:created xsi:type="dcterms:W3CDTF">2026-09-17T05:59:02Z</dcterms:created>
  <dcterms:modified xsi:type="dcterms:W3CDTF">2026-09-17T06:00:43Z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0x010100D7428BFF0AD25F428DB172A579BD886C</vt:lpwstr>
  </property>
</Properties>
</file>