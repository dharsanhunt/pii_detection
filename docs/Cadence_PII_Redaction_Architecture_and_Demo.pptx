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D4BF"/>
                </a:solidFill>
              </a:defRPr>
            </a:pPr>
            <a:r>
              <a:t>OPTIV CYBER SIMULATION — CASE STUDY 2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</a:defRPr>
            </a:pPr>
            <a:r>
              <a:t>Cadence Financial Group:</a:t>
            </a:r>
            <a:br/>
            <a:r>
              <a:t>PII Detection &amp; Secure Document Redaction Gateway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Format-Aware Extraction • Hybrid Regex + Contextual NER • Genuine Binary &amp; Pixel Redaction</a:t>
            </a:r>
            <a:br/>
            <a:r>
              <a:t>Structure Preservation (&gt;=98.6%) • Independent Privacy Gate Enforcement Before Downstream LLM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338328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407408"/>
            <a:ext cx="305409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100% Gold Benchmark F1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28/28 synthetic test cases passed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49/49 exact entity offsets matched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0 false positives on negative traps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297680"/>
            <a:ext cx="338328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4407408"/>
            <a:ext cx="305409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963 Case Study PII Redacted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123 in Organizational Pack (.pptx)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51 in TPRM Manual (.docx + 35 PNGs)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789 in Scanned Risk Policy (.pdf)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297680"/>
            <a:ext cx="3383280" cy="1828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4407408"/>
            <a:ext cx="305409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Zero-Trust LLM Firewall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98.6% - 99.85% structure retained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0 residual PII in post-redaction scan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Strict HTTP 403 block unless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Executive Problem Statement &amp; Threat Model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Protecting Cadence Financial Group artifacts from PII leakage prior to LLM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THREAT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515721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Business &amp; Security Challenge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Cadence Financial Group wants to analyze internal governance policies, TPRM manuals, and org charts using downstream LLMs.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However, these artifacts contain heterogeneous PII across body text, tables, headers, metadata, embedded OneTrust screenshots, and 35-page scanned PDFs.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Central Mandate: ZERO document content may reach a downstream LLM until PII detection, genuine redaction, and independent validation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864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515721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Why Naive Approaches Fail in Enterprise Security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Plain-Text Conversion Destroys Context: Flattening files loses tables, RACI matrices, and reading order (&lt;80% structure retention).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Cosmetic Black Boxes Leak Data: Drawing rectangles over PDFs leaves underlying text streams selectable via copy/paste.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Run-Splitting Leaves Fragments: OOXML splits names across runs (&lt;w:r&gt;); naive string replace misses split spans.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Hidden Package Channels: Author metadata ([OC] Divisha Kilari), speaker notes, and embedded screenshots bypass text parsers.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133088"/>
            <a:ext cx="1091793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Our Defense-in-Depth Solution Architecture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1. Format-Aware Native Processing: PyMuPDF for native/scanned PDFs, python-docx for Word + media ZIP inspection, python-pptx for slides/tables/notes, and RapidOCR (PaddleOCR PP-OCRv4 ONNX) for images.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2. Hybrid Detection + Contextual Disambiguation: Combines deterministic regex/checksum rules with contextual NER and false-positive suppression so role titles ('Chief Risk Officer') and policy numbers remain intact while personal names are redacted.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3. Independent Post-Redaction Verification Gate: Re-parses the redacted output binary from scratch to prove 0 residual PII and &gt;=80% structure retention before unlocking export or optional LLM handoff.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End-to-End Functional Design (13-Stage Pipeline)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From secure multi-format upload through hybrid detection, native redaction, validation, and gated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FUNCTIONAL DESIGN</a:t>
            </a:r>
          </a:p>
        </p:txBody>
      </p:sp>
      <p:pic>
        <p:nvPicPr>
          <p:cNvPr id="5" name="Picture 4" descr="functional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650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Technical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Local-first Windows architecture: React + TypeScript + Tailwind UI paired with FastAPI privacy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5" name="Picture 4" descr="techn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650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Format-Aware Extraction &amp; Genuine Native Redaction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Preserving &gt;=98.6% of document structure while permanently purging underlying sensitive bytes and pixels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FORMAT-AWARE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57600" cy="2514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332841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A. Native &amp; Scanned PDFs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Auto-detects native text vs rasterized scanned pages (0 selectable chars).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Native PDF: Word/block bbox extraction + fitz.Page.apply_redactions() to purge PDF stream tokens.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Scanned PDF (Policy v6.0): Renders 200 DPI pages -&gt; RapidOCR -&gt; proportional sub-bbox interpolation -&gt; permanent pixel fill + label overlay.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657600" cy="2514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435607"/>
            <a:ext cx="332841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B. Word Documents (.docx)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Extracts paragraphs, split formatting runs, 16 tables, headers, footers, and core metadata.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Cross-Run DOM Redactor: Maps character offsets across &lt;w:r&gt; boundaries so split names leave zero fragments.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Embedded Media Scrubbing: Unpacks word/media/image*.png, OCRs 35 screenshots, redacts PII pixels in-place.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657600" cy="2514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435607"/>
            <a:ext cx="332841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C. PowerPoint (.pptx) &amp; Images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Processes slide titles, grouped shapes, RACI &amp; directory tables, speaker notes, and alt-text.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Preserves slide master themes, table borders, cell shading, and font styling.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Sanitizes docProps/core.xml author/modifier fields across both DOCX and PPTX containers.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69080"/>
            <a:ext cx="112471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178808"/>
            <a:ext cx="1091793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Context-Preserving Replacement Modes (Analyst Configurable)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Mode 1 — Policy Category Labels (Default): Replaces sensitive values with [NAME REDACTED], [EMAIL REDACTED], [PHONE REDACTED], [EMPLOYEE ID REDACTED], [GOVERNMENT ID REDACTED], [TAX ID REDACTED], [ACCOUNT NUMBER REDACTED], [ADDRESS REDACTED], [DATE OF BIRTH REDACTED].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Mode 2 — Cross-Artifact Stable Pseudonym Tokens: Replaces recurring entities with deterministic tokens ([PERSON_001], [EMAIL_001], [EMP_ID_001]) so downstream analysts or LLMs can trace multi-step workflows (e.g., who raised vs approved an incident) without learning real identities.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Example Transformation: 'Approved by Maya Sample (EMP-TEST-017) on 12 May 2025' -&gt; 'Approved by [NAME REDACTED] ([EMPLOYEE ID REDACTED]) on 12 May 2025'.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Hybrid PII Detection Engine &amp; False-Positive Suppression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Combining deterministic pattern validators with contextual NER and domain-specific suppression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HYBRID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2514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515721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Layer 1: Structured Identifiers &amp; Regex Validators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EMAIL: RFC-compliant email matcher (corporate &amp; personal domains).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PHONE_NUMBER: International (+44, +91, +1, +49, +65) &amp; domestic formats with boundary guards.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EMPLOYEE_ID: Cadence EMP-xxxx, DIR-xxxx, MER-xx-xxxx, EMP-TEST-xxx.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TAX_ID_PAN_STYLE: 10-character PAN pattern ([A-Z]{5}[0-9]{4}[A-Z]) with OCR 0/O tolerance.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GOVERNMENT_ID_STYLE: SSN (xxx-xx-xxxx), 12-digit National ID, Passport &amp; PESEL patterns.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ACCOUNT_NUMBER &amp; DATE_OF_BIRTH: Contextual 10-16 digit account numbers &amp; labeled DOB spans.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86400" cy="2514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515721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Layer 2: Contextual NER &amp; Tabular Co-Occurrence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Labeled Role/Contact Extraction: Detects names following 'Customer:', 'Owner:', 'Reviewer:', 'Reported by', 'Approved by', 'Signed:', etc.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Narrative Prose NER: Identifies full personal names and initialed names (e.g., 'Miriam T. Achebe', 'R. K. Sharma') in incident descriptions.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Tabular Column Alignment: Recognizes directory and roster columns aligned with email, phone, or employee ID cells.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Residential Addresses: Street numbers + thoroughfare types + city/postal code spans.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69080"/>
            <a:ext cx="1124712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178808"/>
            <a:ext cx="1091793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Layer 3: Strict False-Positive Suppression (Preserving Business &amp; Financial Utility)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Organization &amp; Committee Whitelist: Never redacts 'Cadence Financial Group', 'Blue River Financial Services', 'Group Risk Committee', 'Board Audit Committee', or regulatory names ('GDPR', 'PRA', 'FCA', 'ISO 27001').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Role Title Preservation: Keeps 'Chief Risk Officer', 'Head of TPRM', 'VP Operational Resilience' intact so RACI accountability matrices remain meaningful.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Financial &amp; Calendar Disambiguation: Distinguishes month names ('May, June and August'), policy versions ('v6.0'), masked cards ('**** 0000'), and currency amounts ('INR 84,250.00') from personal identifiers.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Data-Flow &amp; Privacy-Gate State Machine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Deterministic server-side enforcement preventing unvalidated content from reaching any downstream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PRIVACY GATE</a:t>
            </a:r>
          </a:p>
        </p:txBody>
      </p:sp>
      <p:pic>
        <p:nvPicPr>
          <p:cNvPr id="5" name="Picture 4" descr="data_flow_privacy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650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Empirical Results on Case Study 2 Supporting Artifacts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Deep inspection and end-to-end sanitization across all three official Cadence Financial Group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CASE STUDY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5760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332841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Organizational_Pack.pptx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Format: Native PowerPoint (9 Slides, 5 Tables)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PII Detected: 123 Findings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55 Person Names (Execs, Directors, Role Holders)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34 Corporate Email Addresses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34 International Phone Numbers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Package Metadata Author ([OC] Divisha Kilari)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Redaction Applied: Cross-run shape &amp; table cell DOM replacement + core.xml metadata scrub.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Structure Retention: 99.85% (All 9 slides &amp; 5 RACI/directory tables preserved).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Privacy Gate: PASS (0 Residual PII).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65760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435607"/>
            <a:ext cx="332841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Cadence_TPRM_Training.docx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Format: Word Manual (394 Paragraphs, 16 Tables, 35 Embedded Screenshots)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PII Detected: 51 Findings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28 Table Cell Findings (Table 4 User Roster &amp; Table 14 Author/Contacts)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21 Embedded Screenshot OCR Findings (OneTrust UI screenshots image10, 12, 35, 38)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2 Package Metadata Authors ([OC] Madhav Mehta, [OC] Divisha Kilari)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Redaction Applied: Table XML rewrite + in-archive PNG pixel redaction + metadata scrub.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Structure Retention: 99.85% (All 16 tables &amp; 35 screenshots intact).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Privacy Gate: PASS (0 Residual PII).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65760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435607"/>
            <a:ext cx="332841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Risk_Management_Policy_v6.0.pdf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Format: 35-Page 100% Scanned PDF (0 native selectable text characters)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PII Detected: 789 Findings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339 Person Names, 188 Employee/Director IDs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147 Emails, 103 Phone Numbers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4 Gov IDs (SSN, Passport, PESEL), 2 PANs, 2 Accts, 2 DOBs, 2 Addresses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  • Includes signed RCSA form (Fig 8), SecureGRC UI (Fig 9), Badge (Fig 13), PDF Author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Structure Retention: 98.60% (35/35 pages).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Privacy Gate: Flagged 1 low-confidence OCR span -&gt;REVIEW_REQUIRED -&gt; Analyst approves -&gt;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Benchmark Evaluation &amp; Multi-Format Reliability Metrics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Measured Precision, Recall, F1, False-Positive Rate, Residual Leakage, and Structure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BENCHMARK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30352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497433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Gold Synthetic Benchmark (PII_Detection_Redaction_Test_Benchmark.xlsx)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Total Test Cases Evaluated: 28 / 28 Exact Redaction Matches (100%)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Gold Entity Spans Evaluated: 49 / 49 Exact Offset &amp; Category Matches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True Positives (TP): 49 | False Positives (FP): 0 | False Negatives (FN): 0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Precision: 100.0% | Recall: 100.0% | F1 Score: 100.0%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Negative / False-Positive Trap Cases (PII-020 to PII-024): 5 / 5 Clean (0.0% FP Rate)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Post-Redaction Residual PII Leakage: 0 instances across all 28 cases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Covers: Multi-PII sentences, tabular rows, headers/footers, OCR noise, repeated names, and policy/financial false-positive traps.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576072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2" y="1435607"/>
            <a:ext cx="543153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End-to-End Multi-Format File Fixture Evaluation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1. Native Text PDF: 100.0% Precision | 100.0% Recall | 0 Residual | 99.5% Structure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2. Scanned Image PDF (OCR): 100.0% Precision | 100.0% Recall | 0 Residual | 98.6% Structure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3. Word Document (DOCX): 100.0% Precision | 100.0% Recall | 0 Residual | 99.8% Structure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4. PowerPoint (PPTX): 100.0% Precision | 100.0% Recall | 0 Residual | 99.8% Structure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5. Standalone Image (PNG): 100.0% Precision | 100.0% Recall | 0 Residual | 99.0% Structure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Aggregate Multi-Format F1 Score: 100.0% (0 Residual PII across all 5 file types)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Automated Pytest Verification: Unit + E2E tests validate magic bytes, cross-run XML scrubbing, PDF stream removal, LLM gate blocking, and SHA-256 source immutability.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Live Demonstration Walkthrough (10–15 Minute Script)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Step-by-step operational flow for the Optiv Cyber Simulation review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56616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35607"/>
            <a:ext cx="323697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Part 1: Ingestion &amp; Triage (0–5 min)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1. Open Consulting Dashboard &amp; inspect active security policy (thresholds, labels, LLM firewall OFF).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2. Load all 3 Case Study 2 supporting artifacts + test invalid/spoofed file rejection.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3. Show automatic triage: PPTX (native), DOCX (native + 35 screenshots), Risk Policy PDF (35-page Scanned OCR).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56616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435607"/>
            <a:ext cx="323697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Part 2: Review Studio &amp; Gate (5–10 min)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4. Inspect Organizational Pack &amp; TPRM DOCX: verify table cells, embedded OneTrust screenshots, and metadata scrubbing.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5. Open Scanned Risk Policy v6.0 in Side-by-Side Visual Preview (Page 22 signed RCSA form, Page 32 badge).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6. Demonstrate REVIEW_REQUIRED blocking LLM handoff -&gt; approve flagged OCR span -&gt; transition to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56616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435607"/>
            <a:ext cx="3236976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Part 3: Export &amp; Benchmark (10–15 min)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7. Download redacted native artifacts (.pptx, .docx, .pdf) and JSON/CSV masked findings reports.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8. Test opt-in Sanitized LLM Handoff and verify only [NAME REDACTED] / [PERSON_001] tokens are sent.</a:t>
            </a:r>
          </a:p>
          <a:p>
            <a:pPr>
              <a:spcBef>
                <a:spcPts val="500"/>
              </a:spcBef>
              <a:defRPr sz="1250">
                <a:solidFill>
                  <a:srgbClr val="334155"/>
                </a:solidFill>
              </a:defRPr>
            </a:pPr>
            <a:r>
              <a:t>• 9. Run Live Benchmark Suite (100% F1) and inspect Zero-PII Security Audit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